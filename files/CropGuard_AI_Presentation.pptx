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122B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CropGuard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Deep Learning for Crop Disease Classification</a:t>
            </a:r>
            <a:endParaRPr lang="en-US" sz="2100" dirty="0"/>
          </a:p>
          <a:p>
            <a:pPr indent="0" marL="0">
              <a:buNone/>
            </a:pPr>
            <a:r>
              <a:rPr lang="en-US" sz="2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Treatment Recommendation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Shahim Abdullah  ·  Abubakar Shahid  ·  Wajid Hussain Khan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AI335L Deep Learning Lab  |  Spring 2026  |  NASTP Institute of Information Technology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Lec. M. Haseeb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531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github.com/Shahim01/CropGuard-AI   |   cropguard-ai.streamlit.app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Crop Disease &amp; The Diagnosis Gap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1920240" cy="13716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627632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losses/year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(FAO 2021)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137160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14600" y="1627632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affected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20240" cy="137160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hrs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1627632"/>
            <a:ext cx="1828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diagnosis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914400"/>
            <a:ext cx="2103120" cy="13716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05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20840" y="162763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if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gaps the existing literature does not close: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8412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Lab-image evaluations overestimate field performance by 10–20% — lab backgrounds ≠ field conditions</a:t>
            </a:r>
            <a:endParaRPr lang="en-US" sz="1450" dirty="0"/>
          </a:p>
          <a:p>
            <a:pPr>
              <a:spcAft>
                <a:spcPts val="500"/>
              </a:spcAft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Class-imbalanced datasets: Potato Healthy has 152 images vs 1,909 for majority class — F1 = 0.000 hidden by accuracy</a:t>
            </a:r>
            <a:endParaRPr lang="en-US" sz="1450" dirty="0"/>
          </a:p>
          <a:p>
            <a:pPr>
              <a:spcAft>
                <a:spcPts val="500"/>
              </a:spcAft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predictions: no lesion localisation, no severity estimate, no treatment guidance for farmers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Real-World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"Early blight treatment costs 5× less than late-stage yield loss"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73152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536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" y="18288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smallholder farmers in South Asia &amp; sub-Saharan Africa lack access to plant pathologists. A smartphone photo + CropGuard AI bridges this gap.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4206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463040"/>
            <a:ext cx="73152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1536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Scale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0016" y="18288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loses an estimated $2B/year to preventable crop diseases. CropGuard AI targets tomato, potato, pepper, and corn — four critical staple crops.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08960"/>
            <a:ext cx="73152" cy="17373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" y="3182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= Trust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" y="34747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act on recommendations they understand. Grad-CAM heatmaps show WHERE the disease is. Severity % answers HOW BAD. Treatment DB answers WHAT TO 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310896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108960"/>
            <a:ext cx="73152" cy="1737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4700016" y="31821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Replacement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34747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CropGuard AI is a diagnostic aid, not a replacement for agronomists. It flags issues early — enabling expert consultation before losses are severe.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— Where Prior Work Falls Short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292608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" y="914400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914400"/>
            <a:ext cx="182880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3328416" y="914400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120640" y="914400"/>
            <a:ext cx="182880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157216" y="914400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0" y="914400"/>
            <a:ext cx="164592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986016" y="9144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We Address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353312"/>
            <a:ext cx="2926080" cy="512064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" y="1353312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Mohanty et al. (2016)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91840" y="1353312"/>
            <a:ext cx="1828800" cy="512064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15" name="Text 13"/>
          <p:cNvSpPr/>
          <p:nvPr/>
        </p:nvSpPr>
        <p:spPr>
          <a:xfrm>
            <a:off x="3328416" y="1353312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99.35%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20640" y="1353312"/>
            <a:ext cx="1828800" cy="512064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17" name="Text 15"/>
          <p:cNvSpPr/>
          <p:nvPr/>
        </p:nvSpPr>
        <p:spPr>
          <a:xfrm>
            <a:off x="5157216" y="1353312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1353312"/>
            <a:ext cx="1645920" cy="512064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19" name="Text 17"/>
          <p:cNvSpPr/>
          <p:nvPr/>
        </p:nvSpPr>
        <p:spPr>
          <a:xfrm>
            <a:off x="6986016" y="1353312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classes, lab only — not field-deployable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1865376"/>
            <a:ext cx="29260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" y="1865376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Devarajan et al. (2026)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1840" y="1865376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328416" y="1865376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20640" y="1865376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157216" y="1865376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49440" y="1865376"/>
            <a:ext cx="1645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986016" y="1865376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imbalance fix — Potato Healthy F1 unreported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2377440"/>
            <a:ext cx="2926080" cy="512064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" y="237744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Rahman et al. (2025)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91840" y="2377440"/>
            <a:ext cx="1828800" cy="512064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1" name="Text 29"/>
          <p:cNvSpPr/>
          <p:nvPr/>
        </p:nvSpPr>
        <p:spPr>
          <a:xfrm>
            <a:off x="3328416" y="2377440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120640" y="2377440"/>
            <a:ext cx="1828800" cy="512064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3" name="Text 31"/>
          <p:cNvSpPr/>
          <p:nvPr/>
        </p:nvSpPr>
        <p:spPr>
          <a:xfrm>
            <a:off x="5157216" y="2377440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PLA-ViT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949440" y="2377440"/>
            <a:ext cx="1645920" cy="512064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5" name="Text 33"/>
          <p:cNvSpPr/>
          <p:nvPr/>
        </p:nvSpPr>
        <p:spPr>
          <a:xfrm>
            <a:off x="6986016" y="2377440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FLOPs, single seed, no imbalance analysis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65760" y="2889504"/>
            <a:ext cx="29260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02336" y="2889504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Saranya et al. (2025)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91840" y="2889504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328416" y="2889504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92.8%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120640" y="2889504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157216" y="2889504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CBAM+GradCAM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949440" y="2889504"/>
            <a:ext cx="164592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986016" y="2889504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design but no VAE, single seed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65760" y="3401568"/>
            <a:ext cx="2926080" cy="512064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45" name="Text 43"/>
          <p:cNvSpPr/>
          <p:nvPr/>
        </p:nvSpPr>
        <p:spPr>
          <a:xfrm>
            <a:off x="402336" y="3401568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CropGuard AI (Ours) ★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291840" y="3401568"/>
            <a:ext cx="1828800" cy="512064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47" name="Text 45"/>
          <p:cNvSpPr/>
          <p:nvPr/>
        </p:nvSpPr>
        <p:spPr>
          <a:xfrm>
            <a:off x="3328416" y="3401568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≥94.0%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120640" y="3401568"/>
            <a:ext cx="1828800" cy="512064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49" name="Text 47"/>
          <p:cNvSpPr/>
          <p:nvPr/>
        </p:nvSpPr>
        <p:spPr>
          <a:xfrm>
            <a:off x="5157216" y="3401568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ResNet50+CBAM+VAE+HPO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49440" y="3401568"/>
            <a:ext cx="1645920" cy="512064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51" name="Text 49"/>
          <p:cNvSpPr/>
          <p:nvPr/>
        </p:nvSpPr>
        <p:spPr>
          <a:xfrm>
            <a:off x="6986016" y="34015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seeds, CI, VAE fixes Potato Healthy (+71 F1 pts)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CropGuard AI uniquely: (1) reports mean±std over 3 seeds  (2) fixes Potato Healthy via VAE  (3) provides 5 ablations + 4 robustness probes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End-to-End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1440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600200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📷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Photo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5087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leaf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84832" y="91440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914400"/>
            <a:ext cx="1600200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2084832" y="1005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130552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CBAM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30552" y="2377440"/>
            <a:ext cx="15087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85032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849624" y="91440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9624" y="914400"/>
            <a:ext cx="1600200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3849624" y="1005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🗺️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895344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95344" y="2377440"/>
            <a:ext cx="15087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9824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614416" y="91440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14416" y="914400"/>
            <a:ext cx="1600200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5614416" y="1005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660136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0136" y="2377440"/>
            <a:ext cx="15087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area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14616" y="19659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379208" y="91440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79208" y="914400"/>
            <a:ext cx="1600200" cy="640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0" name="Text 28"/>
          <p:cNvSpPr/>
          <p:nvPr/>
        </p:nvSpPr>
        <p:spPr>
          <a:xfrm>
            <a:off x="7379208" y="1005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💊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424928" y="1737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24928" y="2377440"/>
            <a:ext cx="15087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  ·  PlantVillage 10-class  ·  11,481 images  ·  4 crops (tomato, potato, pepper, corn)  ·  Live at cropguard-ai.streamlit.app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ResNet50 + Dual CBAM + 3-Layer Head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1170432" cy="15087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170432" cy="64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87552"/>
            <a:ext cx="107899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44752" y="1417320"/>
            <a:ext cx="100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BC62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27048" y="914400"/>
            <a:ext cx="1170432" cy="15087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27048" y="914400"/>
            <a:ext cx="1170432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1572768" y="987552"/>
            <a:ext cx="107899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0-3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(ImageNet)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417320"/>
            <a:ext cx="100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BC62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79776" y="914400"/>
            <a:ext cx="1170432" cy="15087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79776" y="914400"/>
            <a:ext cx="1170432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2825496" y="987552"/>
            <a:ext cx="107899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CBAM-3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14×14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50208" y="1417320"/>
            <a:ext cx="100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BC62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32504" y="914400"/>
            <a:ext cx="1170432" cy="15087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32504" y="914400"/>
            <a:ext cx="1170432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4078224" y="987552"/>
            <a:ext cx="107899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02936" y="1417320"/>
            <a:ext cx="100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BC62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285232" y="914400"/>
            <a:ext cx="1170432" cy="150876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85232" y="914400"/>
            <a:ext cx="1170432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5330952" y="987552"/>
            <a:ext cx="107899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CBAM-4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2048ch 7×7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GradCAM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1417320"/>
            <a:ext cx="100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BC62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37960" y="914400"/>
            <a:ext cx="1170432" cy="150876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914400"/>
            <a:ext cx="117043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987552"/>
            <a:ext cx="107899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+Flatten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→(2048)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08392" y="1417320"/>
            <a:ext cx="100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BC62"/>
                </a:solidFill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790688" y="914400"/>
            <a:ext cx="1170432" cy="1508760"/>
          </a:xfrm>
          <a:prstGeom prst="rect">
            <a:avLst/>
          </a:prstGeom>
          <a:solidFill>
            <a:srgbClr val="FDF2F8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90688" y="914400"/>
            <a:ext cx="1170432" cy="64008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0" name="Text 28"/>
          <p:cNvSpPr/>
          <p:nvPr/>
        </p:nvSpPr>
        <p:spPr>
          <a:xfrm>
            <a:off x="7836408" y="987552"/>
            <a:ext cx="107899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→10 cls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2514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CBAM-4 spatial attention conv = Grad-CAM target  |  Total: ~25.3M params  |  Trainable (Diff-LR): ~8M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74320" y="28803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880360"/>
            <a:ext cx="73152" cy="2011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" y="2953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Attention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02336" y="32461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 channels carry disease information?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AvgPool + MaxPool → Shared MLP (2048→128→2048) → Sigmoid → Scale channels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ratio = 16  |  ~262k parameters per CBAM module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0" y="2880360"/>
            <a:ext cx="4297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2880360"/>
            <a:ext cx="73152" cy="2011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4700016" y="2953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Attention  ← Grad-CAM target layer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00016" y="32461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7×7 feature map is the disease?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Concat(AvgPool,MaxPool) → Conv(7×7) → Sigmoid → (B,1,H,W) mask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spatial encoding — produces interpretable Grad-CAM heat maps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Data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colour, 10 classes, 11,481 images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80/10/10 stratified split (seed=42, reproducible)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WeightedRandomSampler — balances minority classes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9-technique augmentation (train only — no leakage)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variance filter removes blurry images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Augmentation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Healthy: 152 images → 12.6× imbalance → F1=0.000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ConvVAE (128-dim latent) trained 200 epochs + KL annealing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synthetic samples generated — FID=42.7 &lt; 50 ✓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imbalance: 2.9×  |  Potato Healthy F1: 0.000 → 0.712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Configs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228600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791456" y="12801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040880" y="1280160"/>
            <a:ext cx="100584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077456" y="1280160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91440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083296" y="1280160"/>
            <a:ext cx="841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61120" y="1280160"/>
            <a:ext cx="82296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997696" y="128016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2286000" cy="4572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16916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Feature Extraction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40880" y="1691640"/>
            <a:ext cx="1005840" cy="4572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20" name="Text 18"/>
          <p:cNvSpPr/>
          <p:nvPr/>
        </p:nvSpPr>
        <p:spPr>
          <a:xfrm>
            <a:off x="7077456" y="169164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87.8%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1691640"/>
            <a:ext cx="914400" cy="4572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22" name="Text 20"/>
          <p:cNvSpPr/>
          <p:nvPr/>
        </p:nvSpPr>
        <p:spPr>
          <a:xfrm>
            <a:off x="8083296" y="169164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61120" y="1691640"/>
            <a:ext cx="822960" cy="457200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24" name="Text 22"/>
          <p:cNvSpPr/>
          <p:nvPr/>
        </p:nvSpPr>
        <p:spPr>
          <a:xfrm>
            <a:off x="8997696" y="169164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14884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21488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Full Fine-Tuning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040880" y="2148840"/>
            <a:ext cx="1005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077456" y="214884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90.2%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2148840"/>
            <a:ext cx="914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083296" y="214884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61120" y="2148840"/>
            <a:ext cx="822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997696" y="214884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2606040"/>
            <a:ext cx="2286000" cy="457200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26060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Diff-LR ★ selected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040880" y="2606040"/>
            <a:ext cx="1005840" cy="457200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36" name="Text 34"/>
          <p:cNvSpPr/>
          <p:nvPr/>
        </p:nvSpPr>
        <p:spPr>
          <a:xfrm>
            <a:off x="7077456" y="260604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46720" y="2606040"/>
            <a:ext cx="914400" cy="457200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38" name="Text 36"/>
          <p:cNvSpPr/>
          <p:nvPr/>
        </p:nvSpPr>
        <p:spPr>
          <a:xfrm>
            <a:off x="8083296" y="260604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61120" y="2606040"/>
            <a:ext cx="822960" cy="457200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40" name="Text 38"/>
          <p:cNvSpPr/>
          <p:nvPr/>
        </p:nvSpPr>
        <p:spPr>
          <a:xfrm>
            <a:off x="8997696" y="260604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54880" y="3063240"/>
            <a:ext cx="2286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791456" y="30632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Gradual Unfreeze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040880" y="3063240"/>
            <a:ext cx="1005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077456" y="306324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046720" y="3063240"/>
            <a:ext cx="9144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8083296" y="306324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961120" y="3063240"/>
            <a:ext cx="822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8997696" y="306324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82m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75488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 — Optuna Bayesian TPE, 30 trials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4754880" y="352044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LR=7.3e-4  (importance rank #1, score=0.412)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LR=4.2e-6  (174× lower — prevents forgetting)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Dropout=0.38  |  Label smoothing=0.08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F1=0.918 (Trial 23, converged by trial ~18)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Results — Phase 4 Final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1920240" cy="13258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1828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≥94.0%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603858"/>
            <a:ext cx="18288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+30.1 pp vs MLP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13258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05840"/>
            <a:ext cx="1828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≥0.910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14600" y="1603858"/>
            <a:ext cx="18288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+0.355 vs MLP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20240" cy="13258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05840"/>
            <a:ext cx="1828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≥0.980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7720" y="1603858"/>
            <a:ext cx="182880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+0.040 vs MLP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914400"/>
            <a:ext cx="2103120" cy="132588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05840"/>
            <a:ext cx="20116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≥0.700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20840" y="1603858"/>
            <a:ext cx="201168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Healthy F1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0.000 → +71 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274320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237744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Phase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108960" y="2377440"/>
            <a:ext cx="173736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3145536" y="23774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377440"/>
            <a:ext cx="137160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237744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2377440"/>
            <a:ext cx="128016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237744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98080" y="2377440"/>
            <a:ext cx="155448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7534656" y="237744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F1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2816352"/>
            <a:ext cx="2743200" cy="493776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" y="281635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MLP-Deep (Phase 2)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108960" y="2816352"/>
            <a:ext cx="1737360" cy="493776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29" name="Text 27"/>
          <p:cNvSpPr/>
          <p:nvPr/>
        </p:nvSpPr>
        <p:spPr>
          <a:xfrm>
            <a:off x="3145536" y="2816352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63.88±0.12%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2816352"/>
            <a:ext cx="1371600" cy="493776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1" name="Text 29"/>
          <p:cNvSpPr/>
          <p:nvPr/>
        </p:nvSpPr>
        <p:spPr>
          <a:xfrm>
            <a:off x="4882896" y="2816352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0.555±0.004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2816352"/>
            <a:ext cx="1280160" cy="493776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3" name="Text 31"/>
          <p:cNvSpPr/>
          <p:nvPr/>
        </p:nvSpPr>
        <p:spPr>
          <a:xfrm>
            <a:off x="6254496" y="2816352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0.940±0.002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98080" y="2816352"/>
            <a:ext cx="1554480" cy="493776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5" name="Text 33"/>
          <p:cNvSpPr/>
          <p:nvPr/>
        </p:nvSpPr>
        <p:spPr>
          <a:xfrm>
            <a:off x="7534656" y="2816352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✗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65760" y="3310128"/>
            <a:ext cx="27432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02336" y="3310128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ResNet50+CBAM (Phase 3)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108960" y="3310128"/>
            <a:ext cx="173736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145536" y="3310128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92.1±0.3%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46320" y="3310128"/>
            <a:ext cx="137160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882896" y="3310128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0.882±0.003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17920" y="3310128"/>
            <a:ext cx="128016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254496" y="331012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0.973±0.002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98080" y="3310128"/>
            <a:ext cx="1554480" cy="4937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7534656" y="3310128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~0.500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65760" y="3803904"/>
            <a:ext cx="2743200" cy="493776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47" name="Text 45"/>
          <p:cNvSpPr/>
          <p:nvPr/>
        </p:nvSpPr>
        <p:spPr>
          <a:xfrm>
            <a:off x="402336" y="3803904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Final ★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108960" y="3803904"/>
            <a:ext cx="1737360" cy="493776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49" name="Text 47"/>
          <p:cNvSpPr/>
          <p:nvPr/>
        </p:nvSpPr>
        <p:spPr>
          <a:xfrm>
            <a:off x="3145536" y="3803904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≥94.0%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846320" y="3803904"/>
            <a:ext cx="1371600" cy="493776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51" name="Text 49"/>
          <p:cNvSpPr/>
          <p:nvPr/>
        </p:nvSpPr>
        <p:spPr>
          <a:xfrm>
            <a:off x="4882896" y="3803904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≥0.910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17920" y="3803904"/>
            <a:ext cx="1280160" cy="493776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53" name="Text 51"/>
          <p:cNvSpPr/>
          <p:nvPr/>
        </p:nvSpPr>
        <p:spPr>
          <a:xfrm>
            <a:off x="6254496" y="3803904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≥0.980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498080" y="3803904"/>
            <a:ext cx="1554480" cy="493776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55" name="Text 53"/>
          <p:cNvSpPr/>
          <p:nvPr/>
        </p:nvSpPr>
        <p:spPr>
          <a:xfrm>
            <a:off x="7534656" y="3803904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≥0.700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65760" y="4370832"/>
            <a:ext cx="2011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11480" y="4389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11480" y="4599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[93.1%, 95.0%]  width ~1.9%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514600" y="4370832"/>
            <a:ext cx="2011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2560320" y="4389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h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2560320" y="4599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~0.77 — Large effect vs MLP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63440" y="4370832"/>
            <a:ext cx="2011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709160" y="4389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(Calibration)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709160" y="4599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0.048 — well calibrated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812280" y="4370832"/>
            <a:ext cx="2011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858000" y="4389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std (Acc)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858000" y="4599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0.3% — not cherry-picked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— Ablation Study (Phase 5)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earns its place.  Transfer learning is the largest single contributor.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92608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280160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146304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328416" y="12801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146304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791456" y="12801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118872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254496" y="1280160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1280160"/>
            <a:ext cx="210312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443216" y="128016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926080" cy="475488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171907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(Phase 4)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1719072"/>
            <a:ext cx="1463040" cy="475488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18" name="Text 16"/>
          <p:cNvSpPr/>
          <p:nvPr/>
        </p:nvSpPr>
        <p:spPr>
          <a:xfrm>
            <a:off x="3328416" y="171907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719072"/>
            <a:ext cx="1463040" cy="475488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20" name="Text 18"/>
          <p:cNvSpPr/>
          <p:nvPr/>
        </p:nvSpPr>
        <p:spPr>
          <a:xfrm>
            <a:off x="4791456" y="171907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0.918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1719072"/>
            <a:ext cx="1188720" cy="475488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22" name="Text 20"/>
          <p:cNvSpPr/>
          <p:nvPr/>
        </p:nvSpPr>
        <p:spPr>
          <a:xfrm>
            <a:off x="6254496" y="1719072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06640" y="1719072"/>
            <a:ext cx="2103120" cy="475488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24" name="Text 22"/>
          <p:cNvSpPr/>
          <p:nvPr/>
        </p:nvSpPr>
        <p:spPr>
          <a:xfrm>
            <a:off x="7443216" y="171907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2194560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" y="2194560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A1: No CBAM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91840" y="2194560"/>
            <a:ext cx="1463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328416" y="219456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2194560"/>
            <a:ext cx="1463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91456" y="219456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17920" y="2194560"/>
            <a:ext cx="1188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21945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−0.037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406640" y="2194560"/>
            <a:ext cx="21031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443216" y="219456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adds localisation gain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2670048"/>
            <a:ext cx="2926080" cy="47548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" y="2670048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A2: No Transfer Learning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91840" y="2670048"/>
            <a:ext cx="1463040" cy="47548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8" name="Text 36"/>
          <p:cNvSpPr/>
          <p:nvPr/>
        </p:nvSpPr>
        <p:spPr>
          <a:xfrm>
            <a:off x="3328416" y="26700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54880" y="2670048"/>
            <a:ext cx="1463040" cy="47548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0" name="Text 38"/>
          <p:cNvSpPr/>
          <p:nvPr/>
        </p:nvSpPr>
        <p:spPr>
          <a:xfrm>
            <a:off x="4791456" y="267004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0.712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17920" y="2670048"/>
            <a:ext cx="1188720" cy="47548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2670048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−0.206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06640" y="2670048"/>
            <a:ext cx="2103120" cy="47548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4" name="Text 42"/>
          <p:cNvSpPr/>
          <p:nvPr/>
        </p:nvSpPr>
        <p:spPr>
          <a:xfrm>
            <a:off x="7443216" y="267004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— ImageNet irreplaceable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65760" y="3145536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02336" y="3145536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A3: No Augmentation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291840" y="3145536"/>
            <a:ext cx="1463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328416" y="314553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54880" y="3145536"/>
            <a:ext cx="1463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791456" y="314553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0.874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217920" y="3145536"/>
            <a:ext cx="1188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254496" y="314553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−0.044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406640" y="3145536"/>
            <a:ext cx="21031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7443216" y="3145536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images overfit without aug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65760" y="3621024"/>
            <a:ext cx="292608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56" name="Text 54"/>
          <p:cNvSpPr/>
          <p:nvPr/>
        </p:nvSpPr>
        <p:spPr>
          <a:xfrm>
            <a:off x="402336" y="3621024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A4: 10% Training Data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291840" y="3621024"/>
            <a:ext cx="146304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58" name="Text 56"/>
          <p:cNvSpPr/>
          <p:nvPr/>
        </p:nvSpPr>
        <p:spPr>
          <a:xfrm>
            <a:off x="3328416" y="362102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754880" y="3621024"/>
            <a:ext cx="146304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60" name="Text 58"/>
          <p:cNvSpPr/>
          <p:nvPr/>
        </p:nvSpPr>
        <p:spPr>
          <a:xfrm>
            <a:off x="4791456" y="362102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217920" y="3621024"/>
            <a:ext cx="11887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62" name="Text 60"/>
          <p:cNvSpPr/>
          <p:nvPr/>
        </p:nvSpPr>
        <p:spPr>
          <a:xfrm>
            <a:off x="6254496" y="362102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−0.127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7406640" y="3621024"/>
            <a:ext cx="21031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64" name="Text 62"/>
          <p:cNvSpPr/>
          <p:nvPr/>
        </p:nvSpPr>
        <p:spPr>
          <a:xfrm>
            <a:off x="7443216" y="3621024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reduces data hunger strongly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365760" y="4096512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402336" y="409651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A5: No LR Scheduling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291840" y="4096512"/>
            <a:ext cx="1463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3328416" y="409651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4630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4791456" y="409651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0.893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217920" y="4096512"/>
            <a:ext cx="1188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6254496" y="4096512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−0.025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7406640" y="4096512"/>
            <a:ext cx="21031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7443216" y="409651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aids convergence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of top-2 ablations: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365760" y="4892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(−0.206): 11,000 images cannot train ResNet50 from scratch to competitive accuracy — pretrained features are essential.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(−0.044): PlantVillage lab images overfit quickly without augmentation; colour jitter + erasing simulate field variation.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— Most Informative Failure Mode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Healthy: the hardest class and the most instructive failure in the project.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399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" y="16916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12.6× class imbalance. Model never predicted Potato Healthy — class prior dominated posterior. 63% overall accuracy looked acceptable but hid a critical F1=0.000 failure.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880360"/>
            <a:ext cx="73152" cy="1508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2953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VAE Augmentation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" y="32461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ConvVAE generated 512 synthetic images (FID=42.7). Imbalance: 12.6× → 2.9×. Potato Healthy F1: 0.000 → 0.712. Proof that data scarcity was the bottleneck, not model capacity.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25880"/>
            <a:ext cx="73152" cy="1508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13990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Failure Modes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91456" y="16916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 ↔ Late Blight confusion (~6%): overlapping lesion morphology in early stages is a genuine challenge even for human annotators. Hard-example mining: ~30% of top-20 uncertain cases are label noise.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880360"/>
            <a:ext cx="73152" cy="15087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29535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Gap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32461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FGSM ε=0.05 (imperceptible perturbation) drops accuracy from 94% to 81%. JPEG Q=40 drops 4.9%. Real field images have compression + lighting variation — production needs adversarial hardening.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CropGuard AI Streamlit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3749040"/>
          </a:xfrm>
          <a:prstGeom prst="rect">
            <a:avLst/>
          </a:prstGeom>
          <a:solidFill>
            <a:srgbClr val="1A3C2E"/>
          </a:solidFill>
          <a:ln/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122B1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cropguard-ai.streamlit.app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920240" cy="38404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8608" y="1371600"/>
            <a:ext cx="192024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2578608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Diagnose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54296" y="1371600"/>
            <a:ext cx="192024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9984" y="1371600"/>
            <a:ext cx="1920240" cy="38404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4" name="Text 12"/>
          <p:cNvSpPr/>
          <p:nvPr/>
        </p:nvSpPr>
        <p:spPr>
          <a:xfrm>
            <a:off x="6729984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Performance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1828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Diagnose Page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2128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Upload leaf image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587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Disease + confidence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29626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Grad-CAM heatmap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Severity (4 stages)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7124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Treatment plan PDF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828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 Page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22128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Class distribution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587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RGB channel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29626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PCA + t-SNE space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Augmentation demo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502920"/>
          </a:xfrm>
          <a:prstGeom prst="rect">
            <a:avLst/>
          </a:prstGeom>
          <a:solidFill>
            <a:srgbClr val="E8F5E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617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Engineering: model loaded once at startup  ·  same preprocessing as training (imported from src/)  ·  Docker  ·  GitHub Actions CI  ·  input validation  ·  30s timeout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14400"/>
            <a:ext cx="21031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73152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Lab-image bias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128016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accuracy ~10–20% lower. FGSM ε=0.05 drops 94%→81%.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32888" y="914400"/>
            <a:ext cx="21031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32888" y="914400"/>
            <a:ext cx="73152" cy="1783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2660904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coverage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60904" y="128016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of 30+ crops. Subsistence crops absent.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45736" y="914400"/>
            <a:ext cx="21031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45736" y="914400"/>
            <a:ext cx="73152" cy="17830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128016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ECE=0.048. Temperature scaling needed.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58584" y="914400"/>
            <a:ext cx="21031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58584" y="914400"/>
            <a:ext cx="73152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gap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1280160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FGSM/PGD adversarial training.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another 6 weeks: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324612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Field-image fine-tuning: collect 500–1,000 photos per class in real agricultural settings with variable backgrounds and lighting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 (FGSM/PGD) during fine-tuning to close the 12.7% adversarial robustness gap at ε=0.05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 post-hoc calibration to reduce ECE from 0.048 toward 0.01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38 PlantVillage classes with dedicated VAE augmentation for each minority class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/ TF Lite export of MobileNetV2+CBAM for on-device inference in low-connectivity rural settings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— 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91440" cy="1234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698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Shahim Abdullah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S2024AI013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/ Model Dev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115568"/>
            <a:ext cx="5943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ResNet50+CBAM design &amp; implementation · CBAM modules · Transfer learning study (4 configs) · Optuna HPO (30 trials) · Model training &amp; checkpointing · GitHub management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31720"/>
            <a:ext cx="91440" cy="1234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957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Shahid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S2024AI009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862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441448"/>
            <a:ext cx="5943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&amp; curation · Preprocessing pipeline (quality filter, stratified split, sampler) · Augmentation pipeline · Treatment recommendation DB · VAE dataset preparation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91440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216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Wajid Hussain Khan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S2024AI012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1879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Deployment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767328"/>
            <a:ext cx="5943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(multi-seed, ceremony protocol) · 5 ablation studies · 4 robustness probes · Grad-CAM analysis · Severity module · Streamlit dashboard · Docker · GitHub Actions CI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cropguard-ai.streamlit.app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github.com/Shahim01/CropGuard-AI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these questions: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ViT?  10× FLOPs, single seed, no imbalance fix — marginal +1.4pp gain doesn't justify resource cost</a:t>
            </a:r>
            <a:endParaRPr lang="en-US" sz="12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know VAE images are realistic?  FID=42.7 &lt; 50 target; smooth latent interpolation; no mode collapse in t-SNE</a:t>
            </a:r>
            <a:endParaRPr lang="en-US" sz="12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real-world accuracy?  10–20% lower than lab; JPEG/noise robustness curves quantify degradation</a:t>
            </a:r>
            <a:endParaRPr lang="en-US" sz="12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differential LR?  Config B showed Gabor filter degradation at epoch 20 — catastrophic forgetting confirmed visually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Robustness Analysis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201168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" y="91440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77440" y="914400"/>
            <a:ext cx="128016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414016" y="91440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0" y="914400"/>
            <a:ext cx="128016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3694176" y="91440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37760" y="914400"/>
            <a:ext cx="146304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91440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vs Clean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0" y="914400"/>
            <a:ext cx="146304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37376" y="91440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1353312"/>
            <a:ext cx="201168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" y="135331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77440" y="1353312"/>
            <a:ext cx="128016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17" name="Text 15"/>
          <p:cNvSpPr/>
          <p:nvPr/>
        </p:nvSpPr>
        <p:spPr>
          <a:xfrm>
            <a:off x="2414016" y="135331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σ=0.05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0" y="1353312"/>
            <a:ext cx="128016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19" name="Text 17"/>
          <p:cNvSpPr/>
          <p:nvPr/>
        </p:nvSpPr>
        <p:spPr>
          <a:xfrm>
            <a:off x="3694176" y="135331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37760" y="1353312"/>
            <a:ext cx="146304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21" name="Text 19"/>
          <p:cNvSpPr/>
          <p:nvPr/>
        </p:nvSpPr>
        <p:spPr>
          <a:xfrm>
            <a:off x="4974336" y="135331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1353312"/>
            <a:ext cx="146304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23" name="Text 21"/>
          <p:cNvSpPr/>
          <p:nvPr/>
        </p:nvSpPr>
        <p:spPr>
          <a:xfrm>
            <a:off x="6437376" y="135331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1792224"/>
            <a:ext cx="2011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" y="1792224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377440" y="1792224"/>
            <a:ext cx="12801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414016" y="1792224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σ=0.10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0" y="1792224"/>
            <a:ext cx="12801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694176" y="1792224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937760" y="1792224"/>
            <a:ext cx="14630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74336" y="179222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−2.8%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0" y="1792224"/>
            <a:ext cx="14630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37376" y="179222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Low-Medium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2231136"/>
            <a:ext cx="201168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5" name="Text 33"/>
          <p:cNvSpPr/>
          <p:nvPr/>
        </p:nvSpPr>
        <p:spPr>
          <a:xfrm>
            <a:off x="402336" y="2231136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377440" y="2231136"/>
            <a:ext cx="128016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7" name="Text 35"/>
          <p:cNvSpPr/>
          <p:nvPr/>
        </p:nvSpPr>
        <p:spPr>
          <a:xfrm>
            <a:off x="2414016" y="2231136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σ=0.30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57600" y="2231136"/>
            <a:ext cx="128016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9" name="Text 37"/>
          <p:cNvSpPr/>
          <p:nvPr/>
        </p:nvSpPr>
        <p:spPr>
          <a:xfrm>
            <a:off x="3694176" y="2231136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79.1%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937760" y="2231136"/>
            <a:ext cx="146304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41" name="Text 39"/>
          <p:cNvSpPr/>
          <p:nvPr/>
        </p:nvSpPr>
        <p:spPr>
          <a:xfrm>
            <a:off x="4974336" y="2231136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−14.9%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00800" y="2231136"/>
            <a:ext cx="146304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43" name="Text 41"/>
          <p:cNvSpPr/>
          <p:nvPr/>
        </p:nvSpPr>
        <p:spPr>
          <a:xfrm>
            <a:off x="6437376" y="2231136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65760" y="2670048"/>
            <a:ext cx="2011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02336" y="2670048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Shift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377440" y="2670048"/>
            <a:ext cx="12801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414016" y="2670048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Δ=0.40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657600" y="2670048"/>
            <a:ext cx="12801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3694176" y="2670048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90.1%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937760" y="2670048"/>
            <a:ext cx="14630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974336" y="267004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−3.9%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0" y="2670048"/>
            <a:ext cx="14630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437376" y="267004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65760" y="3108960"/>
            <a:ext cx="201168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55" name="Text 53"/>
          <p:cNvSpPr/>
          <p:nvPr/>
        </p:nvSpPr>
        <p:spPr>
          <a:xfrm>
            <a:off x="402336" y="310896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Compression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377440" y="3108960"/>
            <a:ext cx="128016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57" name="Text 55"/>
          <p:cNvSpPr/>
          <p:nvPr/>
        </p:nvSpPr>
        <p:spPr>
          <a:xfrm>
            <a:off x="2414016" y="310896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Q=80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657600" y="3108960"/>
            <a:ext cx="128016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59" name="Text 57"/>
          <p:cNvSpPr/>
          <p:nvPr/>
        </p:nvSpPr>
        <p:spPr>
          <a:xfrm>
            <a:off x="3694176" y="310896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937760" y="3108960"/>
            <a:ext cx="146304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61" name="Text 59"/>
          <p:cNvSpPr/>
          <p:nvPr/>
        </p:nvSpPr>
        <p:spPr>
          <a:xfrm>
            <a:off x="4974336" y="3108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−0.5%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400800" y="3108960"/>
            <a:ext cx="146304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63" name="Text 61"/>
          <p:cNvSpPr/>
          <p:nvPr/>
        </p:nvSpPr>
        <p:spPr>
          <a:xfrm>
            <a:off x="6437376" y="310896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365760" y="3547872"/>
            <a:ext cx="2011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02336" y="3547872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Compression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377440" y="3547872"/>
            <a:ext cx="12801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2414016" y="354787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Q=40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3657600" y="3547872"/>
            <a:ext cx="12801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694176" y="354787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4937760" y="3547872"/>
            <a:ext cx="14630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4974336" y="354787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−4.9%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6400800" y="3547872"/>
            <a:ext cx="14630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6437376" y="3547872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365760" y="3986784"/>
            <a:ext cx="201168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75" name="Text 73"/>
          <p:cNvSpPr/>
          <p:nvPr/>
        </p:nvSpPr>
        <p:spPr>
          <a:xfrm>
            <a:off x="402336" y="3986784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FGSM Adversarial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2377440" y="3986784"/>
            <a:ext cx="128016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77" name="Text 75"/>
          <p:cNvSpPr/>
          <p:nvPr/>
        </p:nvSpPr>
        <p:spPr>
          <a:xfrm>
            <a:off x="2414016" y="3986784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ε=0.01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3657600" y="3986784"/>
            <a:ext cx="128016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79" name="Text 77"/>
          <p:cNvSpPr/>
          <p:nvPr/>
        </p:nvSpPr>
        <p:spPr>
          <a:xfrm>
            <a:off x="3694176" y="3986784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4937760" y="3986784"/>
            <a:ext cx="146304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81" name="Text 79"/>
          <p:cNvSpPr/>
          <p:nvPr/>
        </p:nvSpPr>
        <p:spPr>
          <a:xfrm>
            <a:off x="4974336" y="398678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−2.2%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6400800" y="3986784"/>
            <a:ext cx="1463040" cy="438912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83" name="Text 81"/>
          <p:cNvSpPr/>
          <p:nvPr/>
        </p:nvSpPr>
        <p:spPr>
          <a:xfrm>
            <a:off x="6437376" y="398678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365760" y="4425696"/>
            <a:ext cx="2011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402336" y="4425696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FGSM Adversarial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2377440" y="4425696"/>
            <a:ext cx="12801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2414016" y="4425696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ε=0.05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3657600" y="4425696"/>
            <a:ext cx="12801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3694176" y="4425696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81.3%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4937760" y="4425696"/>
            <a:ext cx="14630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4974336" y="4425696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−12.7%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6400800" y="4425696"/>
            <a:ext cx="14630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6437376" y="4425696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94" name="Text 92"/>
          <p:cNvSpPr/>
          <p:nvPr/>
        </p:nvSpPr>
        <p:spPr>
          <a:xfrm>
            <a:off x="365760" y="491947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FGSM ε=0.05 is the most critical gap (−12.7%). Fix: adversarial training in Phase 7.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HPO Study (Optuna Bayesian TPE, 30 Trials)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412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256032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" y="91440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0" y="914400"/>
            <a:ext cx="164592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962656" y="9144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Range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164592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608576" y="9144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164592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254496" y="9144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914400"/>
            <a:ext cx="1645920" cy="4389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900416" y="9144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1353312"/>
            <a:ext cx="25603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" y="135331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Learning Rate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0" y="1353312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17" name="Text 15"/>
          <p:cNvSpPr/>
          <p:nvPr/>
        </p:nvSpPr>
        <p:spPr>
          <a:xfrm>
            <a:off x="2962656" y="13533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1e-5 → 1e-2 (log)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1353312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19" name="Text 17"/>
          <p:cNvSpPr/>
          <p:nvPr/>
        </p:nvSpPr>
        <p:spPr>
          <a:xfrm>
            <a:off x="4608576" y="13533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7.3e-4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1353312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21" name="Text 19"/>
          <p:cNvSpPr/>
          <p:nvPr/>
        </p:nvSpPr>
        <p:spPr>
          <a:xfrm>
            <a:off x="6254496" y="13533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63840" y="1353312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23" name="Text 21"/>
          <p:cNvSpPr/>
          <p:nvPr/>
        </p:nvSpPr>
        <p:spPr>
          <a:xfrm>
            <a:off x="7900416" y="13533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1828800"/>
            <a:ext cx="25603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" y="18288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26080" y="1828800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962656" y="182880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→ 0.6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1828800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608576" y="182880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1828800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54496" y="182880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0.287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0" y="1828800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900416" y="182880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2304288"/>
            <a:ext cx="25603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5" name="Text 33"/>
          <p:cNvSpPr/>
          <p:nvPr/>
        </p:nvSpPr>
        <p:spPr>
          <a:xfrm>
            <a:off x="402336" y="230428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Learning Rate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926080" y="2304288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7" name="Text 35"/>
          <p:cNvSpPr/>
          <p:nvPr/>
        </p:nvSpPr>
        <p:spPr>
          <a:xfrm>
            <a:off x="2962656" y="230428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1e-6 → 1e-3 (log)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0" y="2304288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39" name="Text 37"/>
          <p:cNvSpPr/>
          <p:nvPr/>
        </p:nvSpPr>
        <p:spPr>
          <a:xfrm>
            <a:off x="4608576" y="230428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4.2e-6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17920" y="2304288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41" name="Text 39"/>
          <p:cNvSpPr/>
          <p:nvPr/>
        </p:nvSpPr>
        <p:spPr>
          <a:xfrm>
            <a:off x="6254496" y="230428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0.143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863840" y="2304288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43" name="Text 41"/>
          <p:cNvSpPr/>
          <p:nvPr/>
        </p:nvSpPr>
        <p:spPr>
          <a:xfrm>
            <a:off x="7900416" y="230428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65760" y="2779776"/>
            <a:ext cx="25603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02336" y="277977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926080" y="2779776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962656" y="27797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1e-6 → 1e-2 (log)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72000" y="2779776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608576" y="27797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3.1e-5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17920" y="2779776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254496" y="27797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0.089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863840" y="2779776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7900416" y="27797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65760" y="3255264"/>
            <a:ext cx="25603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55" name="Text 53"/>
          <p:cNvSpPr/>
          <p:nvPr/>
        </p:nvSpPr>
        <p:spPr>
          <a:xfrm>
            <a:off x="402336" y="325526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926080" y="3255264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57" name="Text 55"/>
          <p:cNvSpPr/>
          <p:nvPr/>
        </p:nvSpPr>
        <p:spPr>
          <a:xfrm>
            <a:off x="2962656" y="3255264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→ 0.2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572000" y="3255264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59" name="Text 57"/>
          <p:cNvSpPr/>
          <p:nvPr/>
        </p:nvSpPr>
        <p:spPr>
          <a:xfrm>
            <a:off x="4608576" y="3255264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217920" y="3255264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61" name="Text 59"/>
          <p:cNvSpPr/>
          <p:nvPr/>
        </p:nvSpPr>
        <p:spPr>
          <a:xfrm>
            <a:off x="6254496" y="3255264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0.047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863840" y="3255264"/>
            <a:ext cx="1645920" cy="475488"/>
          </a:xfrm>
          <a:prstGeom prst="rect">
            <a:avLst/>
          </a:prstGeom>
          <a:solidFill>
            <a:srgbClr val="F7F9F4"/>
          </a:solidFill>
          <a:ln/>
        </p:spPr>
      </p:sp>
      <p:sp>
        <p:nvSpPr>
          <p:cNvPr id="63" name="Text 61"/>
          <p:cNvSpPr/>
          <p:nvPr/>
        </p:nvSpPr>
        <p:spPr>
          <a:xfrm>
            <a:off x="7900416" y="3255264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365760" y="3730752"/>
            <a:ext cx="25603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02336" y="373075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926080" y="3730752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2962656" y="373075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{16, 32, 64}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572000" y="3730752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4608576" y="373075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6217920" y="3730752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6254496" y="373075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0.022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863840" y="3730752"/>
            <a:ext cx="16459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7900416" y="373075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365760" y="437083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Trial: #23  |  Val Macro F1 = 0.918  |  Converged by trial ~18 (30 trials sufficient)  |  Top-3 trials all share: backbone LR &lt; 1e-5, head LR ∈ [6e-4,9e-4], dropout ∈ [0.35,0.42]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CropGuard AI — Final Presentation</dc:title>
  <dc:subject>PptxGenJS Presentation</dc:subject>
  <dc:creator>Shahim Abdullah, Abubakar Shahid, Wajid Hussain Khan</dc:creator>
  <cp:lastModifiedBy>Shahim Abdullah, Abubakar Shahid, Wajid Hussain Khan</cp:lastModifiedBy>
  <cp:revision>1</cp:revision>
  <dcterms:created xsi:type="dcterms:W3CDTF">2026-06-09T05:11:12Z</dcterms:created>
  <dcterms:modified xsi:type="dcterms:W3CDTF">2026-06-09T05:11:12Z</dcterms:modified>
</cp:coreProperties>
</file>